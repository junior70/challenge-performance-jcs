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Exitosas</c:v>
                </c:pt>
              </c:strCache>
            </c:strRef>
          </c:tx>
          <c:spPr>
            <a:solidFill>
              <a:srgbClr val="0EA05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50 TPS</c:v>
                  </c:pt>
                  <c:pt idx="1">
                    <c:v>100 TPS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99.1</c:v>
                </c:pt>
                <c:pt idx="1">
                  <c:v>65.1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Fallidas</c:v>
                </c:pt>
              </c:strCache>
            </c:strRef>
          </c:tx>
          <c:spPr>
            <a:solidFill>
              <a:srgbClr val="D8342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50 TPS</c:v>
                  </c:pt>
                  <c:pt idx="1">
                    <c:v>100 TPS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</c:v>
                </c:pt>
                <c:pt idx="1">
                  <c:v>34.9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556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promedio (ms)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 ms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50 TPS</c:v>
                  </c:pt>
                  <c:pt idx="1">
                    <c:v>100 TPS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226</c:v>
                </c:pt>
                <c:pt idx="1">
                  <c:v>227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Tiempo P95 (ms)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&quot; ms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50 TPS</c:v>
                  </c:pt>
                  <c:pt idx="1">
                    <c:v>100 TPS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276</c:v>
                </c:pt>
                <c:pt idx="1">
                  <c:v>263</c:v>
                </c:pt>
              </c:numCache>
            </c:numRef>
          </c:val>
        </c:ser>
        <c:dLbls>
          <c:numFmt formatCode="0&quot; ms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4A556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556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457200"/>
            <a:ext cx="2743200" cy="2743200"/>
          </a:xfrm>
          <a:prstGeom prst="ellipse">
            <a:avLst/>
          </a:prstGeom>
          <a:solidFill>
            <a:srgbClr val="26317A"/>
          </a:solidFill>
          <a:ln/>
        </p:spPr>
      </p:sp>
      <p:pic>
        <p:nvPicPr>
          <p:cNvPr id="4" name="Image 0" descr="/home/claude/icons/gauge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6217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RENDIMIENTO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6888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y conclusiones de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pruebas de carga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51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la capacidad del sistema para atender el flujo de inicio de sesión y creación de productos, bajo dos niveles de carga: 50 y 100 solicitudes por segundo.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5806440"/>
            <a:ext cx="100584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gerencial  ·  31 de agosto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se evaluó?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simuló el uso real del sistema — personas iniciando sesión y creando productos — para observar cómo responde a distintos niveles de exigencia.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74920" cy="3794760"/>
          </a:xfrm>
          <a:prstGeom prst="roundRect">
            <a:avLst>
              <a:gd name="adj" fmla="val 289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5146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697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2532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749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por segundo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05840" y="4251960"/>
            <a:ext cx="4343400" cy="0"/>
          </a:xfrm>
          <a:prstGeom prst="line">
            <a:avLst/>
          </a:prstGeom>
          <a:noFill/>
          <a:ln w="12700">
            <a:solidFill>
              <a:srgbClr val="D9DE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443484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moderada, equivalente a una operación cotidiana normal.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72200" y="2148840"/>
            <a:ext cx="5074920" cy="3794760"/>
          </a:xfrm>
          <a:prstGeom prst="roundRect">
            <a:avLst>
              <a:gd name="adj" fmla="val 289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37960" y="25146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icons/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9748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543800" y="2532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49808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600" dirty="0"/>
          </a:p>
        </p:txBody>
      </p:sp>
      <p:sp>
        <p:nvSpPr>
          <p:cNvPr id="17" name="Text 13"/>
          <p:cNvSpPr txBox="1"/>
          <p:nvPr/>
        </p:nvSpPr>
        <p:spPr>
          <a:xfrm>
            <a:off x="6537960" y="3749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por segundo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537960" y="4251960"/>
            <a:ext cx="4343400" cy="0"/>
          </a:xfrm>
          <a:prstGeom prst="line">
            <a:avLst/>
          </a:prstGeom>
          <a:noFill/>
          <a:ln w="12700">
            <a:solidFill>
              <a:srgbClr val="D9DEE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37960" y="443484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duplicada, simulando un pico de uso o alta demanda.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prueba se midió cuántas operaciones se completaron con éxito y en cuánto tiempo respondió el sistema.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Rendimiento · Confidencial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resultado, en una sola mirada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operaciones completadas con éxito en cada escenario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5074920" cy="128016"/>
          </a:xfrm>
          <a:prstGeom prst="roundRect">
            <a:avLst/>
          </a:prstGeom>
          <a:solidFill>
            <a:srgbClr val="0EA0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25856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SOLICITUDES / SEGUNDO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6032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E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99.1%</a:t>
            </a:r>
            <a:endParaRPr lang="en-US" sz="7200" dirty="0"/>
          </a:p>
        </p:txBody>
      </p:sp>
      <p:pic>
        <p:nvPicPr>
          <p:cNvPr id="8" name="Image 0" descr="/home/claude/icons/check_0EA05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0233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40050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estable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05840" y="4572000"/>
            <a:ext cx="4343400" cy="0"/>
          </a:xfrm>
          <a:prstGeom prst="line">
            <a:avLst/>
          </a:prstGeom>
          <a:noFill/>
          <a:ln w="12700">
            <a:solidFill>
              <a:srgbClr val="EDEF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475488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852 de 860 operaciones completadas correctamente. Solo 0.9% de las peticiones fallaron.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187452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72200" y="1874520"/>
            <a:ext cx="5074920" cy="128016"/>
          </a:xfrm>
          <a:prstGeom prst="roundRect">
            <a:avLst/>
          </a:prstGeom>
          <a:solidFill>
            <a:srgbClr val="D8342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83680" y="225856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SOLICITUDES / SEGUNDO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256032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83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65.1%</a:t>
            </a:r>
            <a:endParaRPr lang="en-US" sz="7200" dirty="0"/>
          </a:p>
        </p:txBody>
      </p:sp>
      <p:pic>
        <p:nvPicPr>
          <p:cNvPr id="16" name="Image 1" descr="/home/claude/icons/warn_D8342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40233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040880" y="40050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significativas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537960" y="4572000"/>
            <a:ext cx="4343400" cy="0"/>
          </a:xfrm>
          <a:prstGeom prst="line">
            <a:avLst/>
          </a:prstGeom>
          <a:noFill/>
          <a:ln w="12700">
            <a:solidFill>
              <a:srgbClr val="EDEFF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37960" y="475488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7,738 de 11,890 operaciones completadas correctamente. 34.9% de las peticiones fallaron.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Rendimiento · Confidencial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confiabilidad cae fuertemente al duplicar la carga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de operaciones exitosas vs. fallidas, por escenario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914400" y="18745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874520"/>
            <a:ext cx="3337560" cy="1920240"/>
          </a:xfrm>
          <a:prstGeom prst="roundRect">
            <a:avLst>
              <a:gd name="adj" fmla="val 4762"/>
            </a:avLst>
          </a:prstGeom>
          <a:solidFill>
            <a:srgbClr val="F5F7FC"/>
          </a:solidFill>
          <a:ln/>
        </p:spPr>
      </p:sp>
      <p:pic>
        <p:nvPicPr>
          <p:cNvPr id="6" name="Image 0" descr="/home/claude/icons/check_0EA05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21031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458200" y="25603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 TPS, prácticamente todas las solicitudes se completan sin problema.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8183880" y="4069080"/>
            <a:ext cx="3337560" cy="2011680"/>
          </a:xfrm>
          <a:prstGeom prst="roundRect">
            <a:avLst>
              <a:gd name="adj" fmla="val 4545"/>
            </a:avLst>
          </a:prstGeom>
          <a:solidFill>
            <a:srgbClr val="FDECEC"/>
          </a:solidFill>
          <a:ln/>
        </p:spPr>
      </p:sp>
      <p:pic>
        <p:nvPicPr>
          <p:cNvPr id="9" name="Image 1" descr="/home/claude/icons/warn_D8342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29768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458200" y="47548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 TPS, 1 de cada 3 solicitudes no se completa correctamente.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Rendimiento · Confidencial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velocidad no fue el problema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sistema respondió, lo hizo casi igual de rápido en ambos escenarios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65960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/home/claude/icons/stopwatch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0" y="2651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ambos escenarios, las respuestas exitosas llegaron en menos de 0.3 segundos, en promedio.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772400" y="3703320"/>
            <a:ext cx="3749040" cy="0"/>
          </a:xfrm>
          <a:prstGeom prst="line">
            <a:avLst/>
          </a:prstGeom>
          <a:noFill/>
          <a:ln w="12700">
            <a:solidFill>
              <a:srgbClr val="D9DEE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0" y="388620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clave: el sistema no se puso “lento”. Las solicitudes que a 100 TPS fallaron, fallaron de forma directa (fueron rechazadas), no por demoras excesivas. Esto sugiere un límite de capacidad, más que un problema de desempeño interno.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Rendimiento · Confidencial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está el límite real del sistema?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funciona bien hasta 50 TPS, pero se degrada antes de llegar a 100 TPS. El punto exacto de quiebre aún no está identificado.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3200400"/>
            <a:ext cx="5212080" cy="640080"/>
          </a:xfrm>
          <a:prstGeom prst="rect">
            <a:avLst/>
          </a:prstGeom>
          <a:solidFill>
            <a:srgbClr val="0EA05A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0" y="3200400"/>
            <a:ext cx="2084832" cy="6400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8119872" y="3200400"/>
            <a:ext cx="3127248" cy="640080"/>
          </a:xfrm>
          <a:prstGeom prst="rect">
            <a:avLst/>
          </a:prstGeom>
          <a:solidFill>
            <a:srgbClr val="D834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886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3886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TPS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607040" y="3886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34456" y="3099816"/>
            <a:ext cx="201168" cy="20116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A0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Probado: estable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146536" y="3099816"/>
            <a:ext cx="201168" cy="20116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834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42416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Probado: con fallas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76288" y="299923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76288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4206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sin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aún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507492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5074920"/>
            <a:ext cx="73152" cy="1234440"/>
          </a:xfrm>
          <a:prstGeom prst="rect">
            <a:avLst/>
          </a:prstGeom>
          <a:solidFill>
            <a:srgbClr val="0EA0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51846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50 TPS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55138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confiable y dentro de los umbrales definidos.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34840" y="507492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</p:spPr>
      </p:sp>
      <p:sp>
        <p:nvSpPr>
          <p:cNvPr id="22" name="Shape 20"/>
          <p:cNvSpPr/>
          <p:nvPr/>
        </p:nvSpPr>
        <p:spPr>
          <a:xfrm>
            <a:off x="4434840" y="5074920"/>
            <a:ext cx="73152" cy="1234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63440" y="51846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50 y 100 TPS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55138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no evaluada todavía: aquí probablemente se ubica el límite real.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6720" y="507492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</p:spPr>
      </p:sp>
      <p:sp>
        <p:nvSpPr>
          <p:cNvPr id="26" name="Shape 24"/>
          <p:cNvSpPr/>
          <p:nvPr/>
        </p:nvSpPr>
        <p:spPr>
          <a:xfrm>
            <a:off x="8046720" y="5074920"/>
            <a:ext cx="73152" cy="1234440"/>
          </a:xfrm>
          <a:prstGeom prst="rect">
            <a:avLst/>
          </a:prstGeom>
          <a:solidFill>
            <a:srgbClr val="D8342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75320" y="51846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 TPS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55138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ya muestra fallas relevantes en 1 de cada 3 solicitudes.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Rendimiento · Confidencial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66928" cy="566928"/>
          </a:xfrm>
          <a:prstGeom prst="ellipse">
            <a:avLst/>
          </a:prstGeom>
          <a:solidFill>
            <a:srgbClr val="26317A"/>
          </a:solidFill>
          <a:ln/>
        </p:spPr>
      </p:sp>
      <p:pic>
        <p:nvPicPr>
          <p:cNvPr id="4" name="Image 0" descr="/home/claude/icons/check_0EA05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4447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es confiable en condiciones normales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79222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3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50 solicitudes por segundo, el 99.1% de las operaciones se completan con éxito y los tiempos de respuesta son adecuados.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26317A"/>
          </a:solidFill>
          <a:ln/>
        </p:spPr>
      </p:sp>
      <p:pic>
        <p:nvPicPr>
          <p:cNvPr id="8" name="Image 1" descr="/home/claude/icons/warn_D8342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0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63347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falla al duplicar la carga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298094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3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100 solicitudes por segundo, 1 de cada 3 operaciones no se completa. Esto podría afectar a usuarios reales en momentos de alta demanda.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840480"/>
            <a:ext cx="566928" cy="566928"/>
          </a:xfrm>
          <a:prstGeom prst="ellipse">
            <a:avLst/>
          </a:prstGeom>
          <a:solidFill>
            <a:srgbClr val="26317A"/>
          </a:solidFill>
          <a:ln/>
        </p:spPr>
      </p:sp>
      <p:pic>
        <p:nvPicPr>
          <p:cNvPr id="12" name="Image 2" descr="/home/claude/icons/chart_E8A33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7764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8221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problema de lentitud, sino de capacidad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416966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3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respuestas exitosas mantuvieron tiempos similares en ambos escenarios; el sistema rechaza solicitudes en lugar de demorarlas.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5029200"/>
            <a:ext cx="566928" cy="566928"/>
          </a:xfrm>
          <a:prstGeom prst="ellipse">
            <a:avLst/>
          </a:prstGeom>
          <a:solidFill>
            <a:srgbClr val="26317A"/>
          </a:solidFill>
          <a:ln/>
        </p:spPr>
      </p:sp>
      <p:pic>
        <p:nvPicPr>
          <p:cNvPr id="16" name="Image 3" descr="/home/claude/icons/magnifier_CADCF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6636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50109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Aún no conocemos el límite exacto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463040" y="535838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3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identificar el punto preciso, entre 50 y 100 TPS, donde comienza la degradación.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Rendimiento · Confidencial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 recomendados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sugeridas antes de operar cerca de 100 solicitudes por segundo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128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el límite exacto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5603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la prueba con cargas intermedias (60, 70, 80 y 90 solicitudes por segundo) para ubicar con precisión dónde comienza la falla.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2128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capacidad de la infraestructura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5603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límites de conexiones, memoria y procesamiento del sistema junto con el equipo técnico.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4988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480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un límite operativo seguro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8463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Establecer, con margen de seguridad, cuántas solicitudes por segundo puede recibir el sistema en producción.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2062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4988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480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 a probar tras los ajustes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8463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con una nueva prueba que las mejoras aplicadas resuelven las fallas detectadas.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Rendimiento · Confidencial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2026-08-31T05:37:43Z</dcterms:created>
  <dcterms:modified xsi:type="dcterms:W3CDTF">2026-08-31T05:37:43Z</dcterms:modified>
</cp:coreProperties>
</file>